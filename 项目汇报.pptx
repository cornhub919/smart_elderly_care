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52400"/>
            <a:ext cx="12192000" cy="476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34125"/>
            <a:ext cx="10572750" cy="9525"/>
          </a:xfrm>
          <a:prstGeom prst="rect">
            <a:avLst/>
          </a:prstGeom>
          <a:solidFill>
            <a:srgbClr val="B7C0CC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64960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智护家：多模态老年人健康监护系统</a:t>
            </a:r>
            <a:endParaRPr sz="8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87125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200025"/>
            <a:ext cx="12192000" cy="120015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00050" y="2133600"/>
            <a:ext cx="6286500" cy="190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00050" y="647700"/>
            <a:ext cx="7810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智护家：多模态老年人健康监护系统</a:t>
            </a:r>
            <a:endParaRPr sz="33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00050" y="15240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24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Cross-Modal Attention 的居家风险评估与照护建议</a:t>
            </a:r>
            <a:endParaRPr sz="2025" b="0">
              <a:solidFill>
                <a:srgbClr val="24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0" y="819150"/>
            <a:ext cx="3524250" cy="449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0C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810500" y="819150"/>
            <a:ext cx="3524250" cy="762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191500" y="11430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</a:t>
            </a:r>
            <a:endParaRPr sz="21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191500" y="1885950"/>
            <a:ext cx="85725" cy="8572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429625" y="1809750"/>
            <a:ext cx="2333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单一视频容易受隐私、遮挡和弱光影响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91500" y="2495550"/>
            <a:ext cx="85725" cy="8572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429625" y="2419350"/>
            <a:ext cx="2333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单一音频容易被环境噪声误导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191500" y="3105150"/>
            <a:ext cx="85725" cy="8572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429625" y="3028950"/>
            <a:ext cx="2333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生理和用药能补长期状态，但难判断突发事件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91500" y="3714750"/>
            <a:ext cx="85725" cy="8572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429625" y="3638550"/>
            <a:ext cx="2333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需要把即时安全事件和长期健康风险联合判断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90550" y="28765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项目目标</a:t>
            </a:r>
            <a:endParaRPr sz="21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90550" y="3429000"/>
            <a:ext cx="571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0CC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90550" y="3429000"/>
            <a:ext cx="76200" cy="5334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19150" y="3524250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四模态融合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333625" y="354330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整合视频、音频、生理和用药信息，减少单一模态误判。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90550" y="4152900"/>
            <a:ext cx="571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0CC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90550" y="4152900"/>
            <a:ext cx="76200" cy="533400"/>
          </a:xfrm>
          <a:prstGeom prst="rect">
            <a:avLst/>
          </a:prstGeom>
          <a:solidFill>
            <a:srgbClr val="2454A6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19150" y="4248150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三级风险评估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333625" y="426720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输出低风险、中风险和高风险，便于照护响应分级。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90550" y="4876800"/>
            <a:ext cx="5715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7C0CC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90550" y="4876800"/>
            <a:ext cx="76200" cy="533400"/>
          </a:xfrm>
          <a:prstGeom prst="rect">
            <a:avLst/>
          </a:prstGeom>
          <a:solidFill>
            <a:srgbClr val="0F7B45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19150" y="4972050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端到端闭环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333625" y="4991100"/>
            <a:ext cx="361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从特征提取、模型预测到 Web 演示和健康周报。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00050" y="59436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课程项目汇报 | 刘昊 / 刘国龙 / 陈大有 / 刘杨</a:t>
            </a:r>
            <a:endParaRPr sz="15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52400"/>
            <a:ext cx="12192000" cy="476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34125"/>
            <a:ext cx="10572750" cy="9525"/>
          </a:xfrm>
          <a:prstGeom prst="rect">
            <a:avLst/>
          </a:prstGeom>
          <a:solidFill>
            <a:srgbClr val="B7C0CC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64960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智护家：多模态老年人健康监护系统</a:t>
            </a:r>
            <a:endParaRPr sz="8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87125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0050" y="400050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4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多模态信息处理课程项目</a:t>
            </a:r>
            <a:endParaRPr sz="1125" b="1">
              <a:solidFill>
                <a:srgbClr val="24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00050" y="781050"/>
            <a:ext cx="9334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方法：真实单模态分析器 + Cross-Modal Attention 融合</a:t>
            </a:r>
            <a:endParaRPr sz="27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00050" y="1771650"/>
            <a:ext cx="11391900" cy="9525"/>
          </a:xfrm>
          <a:prstGeom prst="rect">
            <a:avLst/>
          </a:prstGeom>
          <a:solidFill>
            <a:srgbClr val="B7C0CC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2238375"/>
            <a:ext cx="2095500" cy="1257300"/>
          </a:xfrm>
          <a:prstGeom prst="rect">
            <a:avLst/>
          </a:prstGeom>
          <a:solidFill>
            <a:srgbClr val="E8EDF3"/>
          </a:solidFill>
          <a:ln w="9525">
            <a:solidFill>
              <a:srgbClr val="B7C0CC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00100" y="24574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</a:t>
            </a:r>
            <a:endParaRPr sz="19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288607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MediaPipe 骨架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317182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768维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1638300" y="3495675"/>
            <a:ext cx="0" cy="504825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257550" y="2238375"/>
            <a:ext cx="2095500" cy="1257300"/>
          </a:xfrm>
          <a:prstGeom prst="rect">
            <a:avLst/>
          </a:prstGeom>
          <a:solidFill>
            <a:srgbClr val="E8EDF3"/>
          </a:solidFill>
          <a:ln w="9525">
            <a:solidFill>
              <a:srgbClr val="B7C0CC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467100" y="24574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音频</a:t>
            </a:r>
            <a:endParaRPr sz="19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467100" y="288607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librosa 声学特征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467100" y="317182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768维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4305300" y="3495675"/>
            <a:ext cx="0" cy="504825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924550" y="2238375"/>
            <a:ext cx="2095500" cy="1257300"/>
          </a:xfrm>
          <a:prstGeom prst="rect">
            <a:avLst/>
          </a:prstGeom>
          <a:solidFill>
            <a:srgbClr val="E8EDF3"/>
          </a:solidFill>
          <a:ln w="9525">
            <a:solidFill>
              <a:srgbClr val="B7C0C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134100" y="24574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生理</a:t>
            </a:r>
            <a:endParaRPr sz="19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134100" y="288607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健康统计特征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134100" y="317182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256维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6972300" y="3495675"/>
            <a:ext cx="0" cy="504825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591550" y="2238375"/>
            <a:ext cx="2095500" cy="1257300"/>
          </a:xfrm>
          <a:prstGeom prst="rect">
            <a:avLst/>
          </a:prstGeom>
          <a:solidFill>
            <a:srgbClr val="E8EDF3"/>
          </a:solidFill>
          <a:ln w="9525">
            <a:solidFill>
              <a:srgbClr val="B7C0CC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801100" y="24574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用药</a:t>
            </a:r>
            <a:endParaRPr sz="19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801100" y="288607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依从性规则编码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801100" y="317182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128维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9639300" y="3495675"/>
            <a:ext cx="0" cy="504825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714625" y="4038600"/>
            <a:ext cx="6762750" cy="590550"/>
          </a:xfrm>
          <a:prstGeom prst="rect">
            <a:avLst/>
          </a:prstGeom>
          <a:solidFill>
            <a:srgbClr val="F4F7FA"/>
          </a:solidFill>
          <a:ln w="9525">
            <a:solidFill>
              <a:srgbClr val="B7C0CC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3181350" y="4219575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统一投影到 512 维 + 模态类型嵌入</a:t>
            </a:r>
            <a:endParaRPr sz="1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6096000" y="4629150"/>
            <a:ext cx="0" cy="419100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2857500" y="5067300"/>
            <a:ext cx="6477000" cy="7429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257550" y="5286375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Cross-Modal Attention × 4 层 → 风险分类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543300" y="5981700"/>
            <a:ext cx="523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输出：风险等级、概率分布、模态权重、注意力矩阵</a:t>
            </a:r>
            <a:endParaRPr sz="13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52400"/>
            <a:ext cx="12192000" cy="476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34125"/>
            <a:ext cx="10572750" cy="9525"/>
          </a:xfrm>
          <a:prstGeom prst="rect">
            <a:avLst/>
          </a:prstGeom>
          <a:solidFill>
            <a:srgbClr val="B7C0CC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64960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智护家：多模态老年人健康监护系统</a:t>
            </a:r>
            <a:endParaRPr sz="8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87125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0050" y="400050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4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多模态信息处理课程项目</a:t>
            </a:r>
            <a:endParaRPr sz="1125" b="1">
              <a:solidFill>
                <a:srgbClr val="24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00050" y="781050"/>
            <a:ext cx="9334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数据：公开真实特征为主，半合成补足健康与用药场景</a:t>
            </a:r>
            <a:endParaRPr sz="27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00050" y="1771650"/>
            <a:ext cx="11391900" cy="9525"/>
          </a:xfrm>
          <a:prstGeom prst="rect">
            <a:avLst/>
          </a:prstGeom>
          <a:solidFill>
            <a:srgbClr val="B7C0CC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95300" y="2143125"/>
            <a:ext cx="11049000" cy="41910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14375" y="22479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模态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190750" y="22479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572125" y="22479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特征方式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4375" y="26860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190750" y="268605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Pexels 公开视频 112 段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572125" y="26860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PoseLandmarker 提取重心轨迹、躯干角度、速度统计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95300" y="3114675"/>
            <a:ext cx="11049000" cy="9525"/>
          </a:xfrm>
          <a:prstGeom prst="rect">
            <a:avLst/>
          </a:prstGeom>
          <a:solidFill>
            <a:srgbClr val="B7C0CC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14375" y="33147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音频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90750" y="33147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ESC-50 环境声音 2000 条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572125" y="33147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MFCC、Mel 频谱、能量、过零率等声学统计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95300" y="3743325"/>
            <a:ext cx="11049000" cy="9525"/>
          </a:xfrm>
          <a:prstGeom prst="rect">
            <a:avLst/>
          </a:prstGeom>
          <a:solidFill>
            <a:srgbClr val="B7C0CC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14375" y="39433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生理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190750" y="394335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半合成时序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572125" y="39433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心率、血氧、血压、步数按医学规则生成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95300" y="4371975"/>
            <a:ext cx="11049000" cy="9525"/>
          </a:xfrm>
          <a:prstGeom prst="rect">
            <a:avLst/>
          </a:prstGeom>
          <a:solidFill>
            <a:srgbClr val="B7C0CC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14375" y="45720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用药</a:t>
            </a:r>
            <a:endParaRPr sz="15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190750" y="4572000"/>
            <a:ext cx="2809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半合成记录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572125" y="45720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应服、已服、漏服和依从率编码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95300" y="5000625"/>
            <a:ext cx="11049000" cy="9525"/>
          </a:xfrm>
          <a:prstGeom prst="rect">
            <a:avLst/>
          </a:prstGeom>
          <a:solidFill>
            <a:srgbClr val="B7C0CC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23900" y="5667375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F7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F7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900</a:t>
            </a:r>
            <a:endParaRPr sz="3600" b="1">
              <a:solidFill>
                <a:srgbClr val="0F7B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23900" y="627697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总样本，低/中/高各 300</a:t>
            </a:r>
            <a:endParaRPr sz="13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829050" y="566737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245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245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720/90/90</a:t>
            </a:r>
            <a:endParaRPr sz="3600" b="1">
              <a:solidFill>
                <a:srgbClr val="2454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829050" y="6276975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train / val / test</a:t>
            </a:r>
            <a:endParaRPr sz="13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067550" y="5695950"/>
            <a:ext cx="4333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训练设置：Full 模型 8.5M 参数，4 层注意力；Lite 拼接模型 3.7M 参数作为基线；AdamW + 早停 + 消融实验。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52400"/>
            <a:ext cx="12192000" cy="476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6334125"/>
            <a:ext cx="10572750" cy="9525"/>
          </a:xfrm>
          <a:prstGeom prst="rect">
            <a:avLst/>
          </a:prstGeom>
          <a:solidFill>
            <a:srgbClr val="B7C0CC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64960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智护家：多模态老年人健康监护系统</a:t>
            </a:r>
            <a:endParaRPr sz="8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87125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0050" y="400050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4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多模态信息处理课程项目</a:t>
            </a:r>
            <a:endParaRPr sz="1125" b="1">
              <a:solidFill>
                <a:srgbClr val="24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00050" y="781050"/>
            <a:ext cx="9334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结果：Full 模型表现最好，消融验证四模态都有贡献</a:t>
            </a:r>
            <a:endParaRPr sz="27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00050" y="1771650"/>
            <a:ext cx="11391900" cy="9525"/>
          </a:xfrm>
          <a:prstGeom prst="rect">
            <a:avLst/>
          </a:prstGeom>
          <a:solidFill>
            <a:srgbClr val="B7C0CC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90550" y="2143125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F7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F7B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endParaRPr sz="3600" b="1">
              <a:solidFill>
                <a:srgbClr val="0F7B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90550" y="2752725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Full: Accuracy / F1 / AUC</a:t>
            </a:r>
            <a:endParaRPr sz="13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90550" y="3381375"/>
            <a:ext cx="285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94.44%</a:t>
            </a:r>
            <a:endParaRPr sz="3600" b="1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90550" y="3990975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Lite 拼接基线 Accuracy</a:t>
            </a:r>
            <a:endParaRPr sz="13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90550" y="4619625"/>
            <a:ext cx="295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245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2454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+5.56</a:t>
            </a:r>
            <a:endParaRPr sz="3600" b="1">
              <a:solidFill>
                <a:srgbClr val="2454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90550" y="522922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Cross-Attention 提升百分点</a:t>
            </a:r>
            <a:endParaRPr sz="13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3650" y="2143125"/>
            <a:ext cx="3325599" cy="285750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8191500" y="21907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模态重要性下降量</a:t>
            </a:r>
            <a:endParaRPr sz="18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91500" y="2781300"/>
            <a:ext cx="119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health</a:t>
            </a:r>
            <a:endParaRPr sz="13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410700" y="2819400"/>
            <a:ext cx="1619250" cy="209550"/>
          </a:xfrm>
          <a:prstGeom prst="rect">
            <a:avLst/>
          </a:prstGeom>
          <a:solidFill>
            <a:srgbClr val="B3261E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115675" y="2781300"/>
            <a:ext cx="838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-32.22%</a:t>
            </a:r>
            <a:endParaRPr sz="12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91500" y="3371850"/>
            <a:ext cx="119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medication</a:t>
            </a:r>
            <a:endParaRPr sz="13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410700" y="3409950"/>
            <a:ext cx="714375" cy="2095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210800" y="3371850"/>
            <a:ext cx="838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-2.22%</a:t>
            </a:r>
            <a:endParaRPr sz="12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191500" y="3962400"/>
            <a:ext cx="119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video</a:t>
            </a:r>
            <a:endParaRPr sz="13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410700" y="4000500"/>
            <a:ext cx="400050" cy="209550"/>
          </a:xfrm>
          <a:prstGeom prst="rect">
            <a:avLst/>
          </a:prstGeom>
          <a:solidFill>
            <a:srgbClr val="2454A6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896475" y="3962400"/>
            <a:ext cx="838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-1.11%</a:t>
            </a:r>
            <a:endParaRPr sz="12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191500" y="4552950"/>
            <a:ext cx="1190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audio</a:t>
            </a:r>
            <a:endParaRPr sz="135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410700" y="4591050"/>
            <a:ext cx="400050" cy="209550"/>
          </a:xfrm>
          <a:prstGeom prst="rect">
            <a:avLst/>
          </a:prstGeom>
          <a:solidFill>
            <a:srgbClr val="2454A6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896475" y="4552950"/>
            <a:ext cx="838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-1.11%</a:t>
            </a:r>
            <a:endParaRPr sz="12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171950" y="5334000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混淆矩阵三类全部预测正确；端到端真实 ESC-50 音频测试 6/6 正确。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171950" y="5829300"/>
            <a:ext cx="657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答辩说明：100% 准确率要审慎解释，样本规模有限，结论由独立测试、端到端验证和消融共同支撑。</a:t>
            </a:r>
            <a:endParaRPr sz="135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152400"/>
            <a:ext cx="12192000" cy="476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407670" y="6452870"/>
            <a:ext cx="10572750" cy="9525"/>
          </a:xfrm>
          <a:prstGeom prst="rect">
            <a:avLst/>
          </a:prstGeom>
          <a:solidFill>
            <a:srgbClr val="B7C0CC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649605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智护家：多模态老年人健康监护系统</a:t>
            </a:r>
            <a:endParaRPr sz="8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287125" y="6419850"/>
            <a:ext cx="495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0050" y="400050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4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44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多模态信息处理课程项目</a:t>
            </a:r>
            <a:endParaRPr sz="1125" b="1">
              <a:solidFill>
                <a:srgbClr val="244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00050" y="781050"/>
            <a:ext cx="9334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交付：Web 演示闭环完整，四位成员分工明确</a:t>
            </a:r>
            <a:endParaRPr sz="277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00050" y="1771650"/>
            <a:ext cx="11391900" cy="9525"/>
          </a:xfrm>
          <a:prstGeom prst="rect">
            <a:avLst/>
          </a:prstGeom>
          <a:solidFill>
            <a:srgbClr val="B7C0CC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1907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系统演示流程</a:t>
            </a:r>
            <a:endParaRPr sz="21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762250"/>
            <a:ext cx="1809750" cy="1047750"/>
          </a:xfrm>
          <a:prstGeom prst="rect">
            <a:avLst/>
          </a:prstGeom>
          <a:solidFill>
            <a:srgbClr val="E8EDF3"/>
          </a:solidFill>
          <a:ln w="9525">
            <a:solidFill>
              <a:srgbClr val="B7C0C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29527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17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3333750"/>
            <a:ext cx="15525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上传视频/音频，填写生理和用药数据</a:t>
            </a:r>
            <a:endParaRPr sz="11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543175" y="3286125"/>
            <a:ext cx="381000" cy="0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067050" y="2762250"/>
            <a:ext cx="1809750" cy="1047750"/>
          </a:xfrm>
          <a:prstGeom prst="rect">
            <a:avLst/>
          </a:prstGeom>
          <a:solidFill>
            <a:srgbClr val="F4F7FA"/>
          </a:solidFill>
          <a:ln w="9525">
            <a:solidFill>
              <a:srgbClr val="B7C0CC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238500" y="29527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</a:t>
            </a:r>
            <a:endParaRPr sz="17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238500" y="3333750"/>
            <a:ext cx="1381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缺失模态用低风险默认特征填充</a:t>
            </a:r>
            <a:endParaRPr sz="11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4924425" y="3286125"/>
            <a:ext cx="381000" cy="0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448300" y="2762250"/>
            <a:ext cx="1809750" cy="1047750"/>
          </a:xfrm>
          <a:prstGeom prst="rect">
            <a:avLst/>
          </a:prstGeom>
          <a:solidFill>
            <a:srgbClr val="E8EDF3"/>
          </a:solidFill>
          <a:ln w="9525">
            <a:solidFill>
              <a:srgbClr val="B7C0CC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619750" y="29527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</a:t>
            </a:r>
            <a:endParaRPr sz="17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619750" y="3333750"/>
            <a:ext cx="1381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显示概率、模态权重和注意力热力图</a:t>
            </a:r>
            <a:endParaRPr sz="11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7305675" y="3286125"/>
            <a:ext cx="381000" cy="0"/>
          </a:xfrm>
          <a:prstGeom prst="line">
            <a:avLst/>
          </a:prstGeom>
          <a:noFill/>
          <a:ln w="19050">
            <a:solidFill>
              <a:srgbClr val="B7C0C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829550" y="2762250"/>
            <a:ext cx="1809750" cy="1047750"/>
          </a:xfrm>
          <a:prstGeom prst="rect">
            <a:avLst/>
          </a:prstGeom>
          <a:solidFill>
            <a:srgbClr val="F4F7FA"/>
          </a:solidFill>
          <a:ln w="9525">
            <a:solidFill>
              <a:srgbClr val="B7C0CC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001000" y="29527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周报</a:t>
            </a:r>
            <a:endParaRPr sz="1725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001000" y="3333750"/>
            <a:ext cx="1381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生成健康趋势和照护建议</a:t>
            </a:r>
            <a:endParaRPr sz="11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4362450"/>
            <a:ext cx="10096500" cy="9525"/>
          </a:xfrm>
          <a:prstGeom prst="rect">
            <a:avLst/>
          </a:prstGeom>
          <a:solidFill>
            <a:srgbClr val="B7C0CC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46863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刘昊</a:t>
            </a:r>
            <a:endParaRPr sz="15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495550" y="47053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视频模态与数据处理：Pexels 视频、MediaPipe 骨架特征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115050" y="46863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刘国龙</a:t>
            </a:r>
            <a:endParaRPr sz="15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924800" y="47053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音频与生理模态：ESC-50 音频特征、生理统计特征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85800" y="5600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陈大有</a:t>
            </a:r>
            <a:endParaRPr sz="15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495550" y="56197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融合模型与实验：Cross-Attention、训练与消融分析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115050" y="5600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刘杨</a:t>
            </a:r>
            <a:endParaRPr sz="15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24800" y="56197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 集成与演示：风险评估、缺失模态、周报与视频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85800" y="615315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总结：项目完成了从四模态真实特征、学习型融合、消融验证到 App 展示的课程项目闭环。</a:t>
            </a:r>
            <a:endParaRPr sz="1425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1354</Words>
  <Application>WPS 演示</Application>
  <PresentationFormat>Converted Presentation</PresentationFormat>
  <Paragraphs>206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刘国龙</cp:lastModifiedBy>
  <cp:revision>2</cp:revision>
  <dcterms:created xsi:type="dcterms:W3CDTF">2026-07-09T09:57:29Z</dcterms:created>
  <dcterms:modified xsi:type="dcterms:W3CDTF">2026-07-09T09:57:46Z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F9106FA1102B4900B24180F718974B40_13</vt:lpwstr>
  </property>
  <property fmtid="{D5CDD505-2E9C-101B-9397-08002B2CF9AE}" pid="3" name="KSOProductBuildVer">
    <vt:lpwstr>2052-12.1.0.24034</vt:lpwstr>
  </property>
</Properties>
</file>